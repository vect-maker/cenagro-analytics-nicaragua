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3454"/>
    <a:srgbClr val="E320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3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9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12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477AD1-91CF-1CED-977D-AB1F93091F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46F1153-3242-527D-6AF8-65AC6F43D1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D1D671-7923-3F46-8771-02AE54FEE4B2}" type="datetimeFigureOut">
              <a:rPr lang="es-NI" smtClean="0"/>
              <a:t>22/10/2026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662555E-ECF5-72C4-1B67-1DB28B2C69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EF6AC4E-C9A1-4E2D-2DC7-92971856694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26924-BEDE-0644-960B-00A366BE42E3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6042971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96D6C2-88C4-41EE-9ECB-BAD832CF12AB}" type="datetimeFigureOut">
              <a:rPr lang="es-NI" smtClean="0"/>
              <a:t>22/10/2026</a:t>
            </a:fld>
            <a:endParaRPr lang="es-NI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NI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4883-4F96-4370-91F7-EC4CCCC9A888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72684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717057" y="2161532"/>
            <a:ext cx="5758251" cy="1828342"/>
          </a:xfrm>
        </p:spPr>
        <p:txBody>
          <a:bodyPr anchor="b">
            <a:noAutofit/>
          </a:bodyPr>
          <a:lstStyle>
            <a:lvl1pPr algn="l">
              <a:defRPr sz="3600" b="1"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717056" y="4156011"/>
            <a:ext cx="5758251" cy="126792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editar el estilo de subtítulo del patrón</a:t>
            </a:r>
            <a:endParaRPr lang="en-U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10/22/2026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5CA2B2D-474F-74F7-6443-59FD7007EC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1787"/>
            <a:ext cx="12188819" cy="6856210"/>
          </a:xfrm>
          <a:prstGeom prst="rect">
            <a:avLst/>
          </a:prstGeom>
        </p:spPr>
      </p:pic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743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8" y="1856"/>
            <a:ext cx="12185520" cy="685435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 cuerpo"/>
              </a:defRPr>
            </a:lvl1pPr>
            <a:lvl2pPr>
              <a:defRPr>
                <a:latin typeface="Calibri cuerpo"/>
              </a:defRPr>
            </a:lvl2pPr>
            <a:lvl3pPr>
              <a:defRPr>
                <a:latin typeface="Calibri cuerpo"/>
              </a:defRPr>
            </a:lvl3pPr>
            <a:lvl4pPr>
              <a:defRPr>
                <a:latin typeface="Calibri cuerpo"/>
              </a:defRPr>
            </a:lvl4pPr>
            <a:lvl5pPr>
              <a:defRPr>
                <a:latin typeface="Calibri cuerpo"/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2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6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592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66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2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00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52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59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0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54116-522A-43FA-A07B-AF425C3CADE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2D79B-CE85-4CB9-8BC4-26C9F168BC9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7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611815" y="2512088"/>
            <a:ext cx="5242436" cy="1165609"/>
          </a:xfrm>
        </p:spPr>
        <p:txBody>
          <a:bodyPr wrap="square" anchor="t"/>
          <a:lstStyle/>
          <a:p>
            <a:r>
              <a:rPr sz="2400">
                <a:solidFill>
                  <a:srgbClr val="71309A"/>
                </a:solidFill>
              </a:rPr>
              <a:t>Impacto del financiamiento en el empleo y la diversificación productiva</a:t>
            </a:r>
            <a:endParaRPr lang="en-US" dirty="0">
              <a:solidFill>
                <a:srgbClr val="7030A0"/>
              </a:solidFill>
              <a:latin typeface="Montserrat SemiBold" pitchFamily="2" charset="77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611815" y="3634989"/>
            <a:ext cx="5242436" cy="1165609"/>
          </a:xfrm>
        </p:spPr>
        <p:txBody>
          <a:bodyPr wrap="square"/>
          <a:lstStyle/>
          <a:p>
            <a:pPr algn="l"/>
            <a:r>
              <a:rPr sz="1400" dirty="0" err="1">
                <a:solidFill>
                  <a:srgbClr val="143655"/>
                </a:solidFill>
              </a:rPr>
              <a:t>Explotaciones</a:t>
            </a:r>
            <a:r>
              <a:rPr sz="1400" dirty="0">
                <a:solidFill>
                  <a:srgbClr val="143655"/>
                </a:solidFill>
              </a:rPr>
              <a:t> </a:t>
            </a:r>
            <a:r>
              <a:rPr sz="1400" dirty="0" err="1">
                <a:solidFill>
                  <a:srgbClr val="143655"/>
                </a:solidFill>
              </a:rPr>
              <a:t>agropecuarias</a:t>
            </a:r>
            <a:r>
              <a:rPr sz="1400" dirty="0">
                <a:solidFill>
                  <a:srgbClr val="143655"/>
                </a:solidFill>
              </a:rPr>
              <a:t> </a:t>
            </a:r>
            <a:r>
              <a:rPr sz="1400" dirty="0" err="1">
                <a:solidFill>
                  <a:srgbClr val="143655"/>
                </a:solidFill>
              </a:rPr>
              <a:t>nicaragüenses</a:t>
            </a:r>
            <a:r>
              <a:rPr sz="1400" dirty="0">
                <a:solidFill>
                  <a:srgbClr val="143655"/>
                </a:solidFill>
              </a:rPr>
              <a:t> | CENAGRO 2011</a:t>
            </a:r>
            <a:br>
              <a:rPr dirty="0"/>
            </a:br>
            <a:r>
              <a:rPr sz="1400" dirty="0">
                <a:solidFill>
                  <a:srgbClr val="143655"/>
                </a:solidFill>
              </a:rPr>
              <a:t>J</a:t>
            </a:r>
            <a:r>
              <a:rPr lang="es-NI" sz="1400" dirty="0">
                <a:solidFill>
                  <a:srgbClr val="143655"/>
                </a:solidFill>
              </a:rPr>
              <a:t>ose</a:t>
            </a:r>
            <a:r>
              <a:rPr sz="1400" dirty="0">
                <a:solidFill>
                  <a:srgbClr val="143655"/>
                </a:solidFill>
              </a:rPr>
              <a:t> Miranda · K</a:t>
            </a:r>
            <a:r>
              <a:rPr lang="es-NI" sz="1400" dirty="0" err="1">
                <a:solidFill>
                  <a:srgbClr val="143655"/>
                </a:solidFill>
              </a:rPr>
              <a:t>endall</a:t>
            </a:r>
            <a:r>
              <a:rPr sz="1400" dirty="0">
                <a:solidFill>
                  <a:srgbClr val="143655"/>
                </a:solidFill>
              </a:rPr>
              <a:t> Aguilar · R</a:t>
            </a:r>
            <a:r>
              <a:rPr lang="es-NI" sz="1400" dirty="0" err="1">
                <a:solidFill>
                  <a:srgbClr val="143655"/>
                </a:solidFill>
              </a:rPr>
              <a:t>icardo</a:t>
            </a:r>
            <a:r>
              <a:rPr sz="1400" dirty="0">
                <a:solidFill>
                  <a:srgbClr val="143655"/>
                </a:solidFill>
              </a:rPr>
              <a:t> Oyarzo · L</a:t>
            </a:r>
            <a:r>
              <a:rPr lang="es-NI" sz="1400" dirty="0" err="1">
                <a:solidFill>
                  <a:srgbClr val="143655"/>
                </a:solidFill>
              </a:rPr>
              <a:t>uis</a:t>
            </a:r>
            <a:r>
              <a:rPr sz="1400" dirty="0">
                <a:solidFill>
                  <a:srgbClr val="143655"/>
                </a:solidFill>
              </a:rPr>
              <a:t> Medrano</a:t>
            </a:r>
            <a:br>
              <a:rPr dirty="0"/>
            </a:br>
            <a:r>
              <a:rPr sz="1400" dirty="0">
                <a:solidFill>
                  <a:srgbClr val="143655"/>
                </a:solidFill>
              </a:rPr>
              <a:t>Tutor: MSc. </a:t>
            </a:r>
            <a:r>
              <a:rPr sz="1400" dirty="0" err="1">
                <a:solidFill>
                  <a:srgbClr val="143655"/>
                </a:solidFill>
              </a:rPr>
              <a:t>Deyvi</a:t>
            </a:r>
            <a:r>
              <a:rPr sz="1400" dirty="0">
                <a:solidFill>
                  <a:srgbClr val="143655"/>
                </a:solidFill>
              </a:rPr>
              <a:t> Antonio López Rojas</a:t>
            </a:r>
            <a:r>
              <a:rPr lang="es-NI" sz="1400" dirty="0">
                <a:solidFill>
                  <a:srgbClr val="143655"/>
                </a:solidFill>
              </a:rPr>
              <a:t>   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819598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52AC88-61A6-4617-FEAC-330C2B3C2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700">
                <a:solidFill>
                  <a:srgbClr val="71309A"/>
                </a:solidFill>
              </a:rPr>
              <a:t>Problema y contexto de la investigación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995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143655"/>
                </a:solidFill>
                <a:latin typeface="Aptos"/>
              </a:rPr>
              <a:t>¿Qué cambia en las fincas cuando acceden a financiamiento?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0408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43655"/>
                </a:solidFill>
                <a:latin typeface="Aptos"/>
              </a:rPr>
              <a:t>Se comparan unidades financiadas y no financiadas en tres dimensiones: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43655"/>
                </a:solidFill>
                <a:latin typeface="Aptos"/>
              </a:rPr>
              <a:t>• Acceso y fuentes de crédito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43655"/>
                </a:solidFill>
                <a:latin typeface="Aptos"/>
              </a:rPr>
              <a:t>• Intensidad y estabilidad del empleo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43655"/>
                </a:solidFill>
                <a:latin typeface="Aptos"/>
              </a:rPr>
              <a:t>• Diversificación de rubros y uso del suelo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907792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800" b="1">
                <a:solidFill>
                  <a:srgbClr val="71309A"/>
                </a:solidFill>
                <a:latin typeface="Aptos"/>
              </a:rPr>
              <a:t>CENAGRO</a:t>
            </a:r>
          </a:p>
          <a:p>
            <a:pPr algn="ctr">
              <a:spcAft>
                <a:spcPts val="1000"/>
              </a:spcAft>
            </a:pPr>
            <a:r>
              <a:rPr sz="2800" b="1">
                <a:solidFill>
                  <a:srgbClr val="71309A"/>
                </a:solidFill>
                <a:latin typeface="Aptos"/>
              </a:rPr>
              <a:t>2011</a:t>
            </a:r>
          </a:p>
        </p:txBody>
      </p:sp>
    </p:spTree>
    <p:extLst>
      <p:ext uri="{BB962C8B-B14F-4D97-AF65-F5344CB8AC3E}">
        <p14:creationId xmlns:p14="http://schemas.microsoft.com/office/powerpoint/2010/main" val="610045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700">
                <a:solidFill>
                  <a:srgbClr val="71309A"/>
                </a:solidFill>
              </a:rPr>
              <a:t>Objetivos de la investigación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28216"/>
            <a:ext cx="987552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43655"/>
                </a:solidFill>
                <a:latin typeface="Aptos"/>
              </a:rPr>
              <a:t>General: evaluar el financiamiento, el empleo y la diversificación productiva.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14600"/>
            <a:ext cx="9875520" cy="41148"/>
          </a:xfrm>
          <a:prstGeom prst="rect">
            <a:avLst/>
          </a:prstGeom>
          <a:solidFill>
            <a:srgbClr val="713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816352"/>
            <a:ext cx="9646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43655"/>
                </a:solidFill>
                <a:latin typeface="Aptos"/>
              </a:rPr>
              <a:t>1. Comparar la intensidad y estabilidad laboral por tamaño de finca.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43655"/>
                </a:solidFill>
                <a:latin typeface="Aptos"/>
              </a:rPr>
              <a:t>2. Determinar la variación de cultivos permanentes y diversificación.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43655"/>
                </a:solidFill>
                <a:latin typeface="Aptos"/>
              </a:rPr>
              <a:t>3. Analizar aprobación de solicitudes y fuentes de crédito.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700">
                <a:solidFill>
                  <a:srgbClr val="71309A"/>
                </a:solidFill>
              </a:rPr>
              <a:t>Metodología y procesamiento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132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43655"/>
                </a:solidFill>
                <a:latin typeface="Aptos"/>
              </a:rPr>
              <a:t>Enfoque cuantitativo, no experimental, transversal.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43655"/>
                </a:solidFill>
                <a:latin typeface="Aptos"/>
              </a:rPr>
              <a:t>227,541 explotaciones oficiales; 262,546 registros analíticos.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43655"/>
                </a:solidFill>
                <a:latin typeface="Aptos"/>
              </a:rPr>
              <a:t>Comparación con/sin financiamiento y por tamaño de finca.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43655"/>
                </a:solidFill>
                <a:latin typeface="Aptos"/>
              </a:rPr>
              <a:t>Medianas, porcentajes e índices de uso de suelo.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121408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71309A"/>
                </a:solidFill>
                <a:latin typeface="Aptos"/>
              </a:rPr>
              <a:t>SPSS  →  Parquet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71309A"/>
                </a:solidFill>
                <a:latin typeface="Aptos"/>
              </a:rPr>
              <a:t>Rust / DataFusion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71309A"/>
                </a:solidFill>
                <a:latin typeface="Aptos"/>
              </a:rPr>
              <a:t>DuckDB  →  Gráficos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700">
                <a:solidFill>
                  <a:srgbClr val="71309A"/>
                </a:solidFill>
              </a:rPr>
              <a:t>Objetivo 3 | Acceso al financiamiento</a:t>
            </a:r>
          </a:p>
        </p:txBody>
      </p:sp>
      <p:pic>
        <p:nvPicPr>
          <p:cNvPr id="4" name="Picture 3" descr="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74519"/>
            <a:ext cx="7360920" cy="35478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75320" y="1993392"/>
            <a:ext cx="29992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71309A"/>
                </a:solidFill>
                <a:latin typeface="Aptos"/>
              </a:rPr>
              <a:t>15.9% solicitó crédito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2761488"/>
            <a:ext cx="2834640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43655"/>
                </a:solidFill>
                <a:latin typeface="Aptos"/>
              </a:rPr>
              <a:t>De 262,546 registros, 41,756 solicitudes. Entre ellas, la aprobación alcanzó el 92.6%.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733288"/>
            <a:ext cx="10012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444B57"/>
                </a:solidFill>
                <a:latin typeface="Aptos"/>
              </a:rPr>
              <a:t>Fuente: CENAGRO 2011. Figura 1 del informe de investigación.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700">
                <a:solidFill>
                  <a:srgbClr val="71309A"/>
                </a:solidFill>
              </a:rPr>
              <a:t>Objetivo 3 | Fuentes de financiamiento</a:t>
            </a:r>
          </a:p>
        </p:txBody>
      </p:sp>
      <p:pic>
        <p:nvPicPr>
          <p:cNvPr id="4" name="Picture 3" descr="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74519"/>
            <a:ext cx="7360920" cy="35478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75320" y="1993392"/>
            <a:ext cx="29992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71309A"/>
                </a:solidFill>
                <a:latin typeface="Aptos"/>
              </a:rPr>
              <a:t>52.6% banca privada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2761488"/>
            <a:ext cx="2834640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43655"/>
                </a:solidFill>
                <a:latin typeface="Aptos"/>
              </a:rPr>
              <a:t>La banca privada concentró la mayor proporción de créditos; las cooperativas ocuparon el segundo lugar (28.2%).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733288"/>
            <a:ext cx="10012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444B57"/>
                </a:solidFill>
                <a:latin typeface="Aptos"/>
              </a:rPr>
              <a:t>Fuente: CENAGRO 2011. Figura 2 del informe de investigación.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700">
                <a:solidFill>
                  <a:srgbClr val="71309A"/>
                </a:solidFill>
              </a:rPr>
              <a:t>Objetivo 1 | Intensidad laboral</a:t>
            </a:r>
          </a:p>
        </p:txBody>
      </p:sp>
      <p:pic>
        <p:nvPicPr>
          <p:cNvPr id="4" name="Picture 3" descr="lab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74519"/>
            <a:ext cx="7360920" cy="35478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75320" y="1993392"/>
            <a:ext cx="29992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71309A"/>
                </a:solidFill>
                <a:latin typeface="Aptos"/>
              </a:rPr>
              <a:t>+171.6%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2761488"/>
            <a:ext cx="2834640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43655"/>
                </a:solidFill>
                <a:latin typeface="Aptos"/>
              </a:rPr>
              <a:t>En fincas medianas y grandes con crédito: 0.326 trabajadores/Mz frente a 0.120 sin crédito.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733288"/>
            <a:ext cx="10012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444B57"/>
                </a:solidFill>
                <a:latin typeface="Aptos"/>
              </a:rPr>
              <a:t>Fuente: CENAGRO 2011. Figura 3 del informe de investigación.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700">
                <a:solidFill>
                  <a:srgbClr val="71309A"/>
                </a:solidFill>
              </a:rPr>
              <a:t>Objetivo 1 | Estabilidad laboral</a:t>
            </a:r>
          </a:p>
        </p:txBody>
      </p:sp>
      <p:pic>
        <p:nvPicPr>
          <p:cNvPr id="4" name="Picture 3" descr="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74519"/>
            <a:ext cx="7360920" cy="35478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75320" y="1993392"/>
            <a:ext cx="29992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71309A"/>
                </a:solidFill>
                <a:latin typeface="Aptos"/>
              </a:rPr>
              <a:t>68.6% solo temporal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2761488"/>
            <a:ext cx="2834640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43655"/>
                </a:solidFill>
                <a:latin typeface="Aptos"/>
              </a:rPr>
              <a:t>Entre las fincas financiadas prevaleció el empleo estacional; más contratación no implicó mayor estabilidad.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733288"/>
            <a:ext cx="10012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444B57"/>
                </a:solidFill>
                <a:latin typeface="Aptos"/>
              </a:rPr>
              <a:t>Fuente: CENAGRO 2011. Figura 4 del informe de investigación.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700">
                <a:solidFill>
                  <a:srgbClr val="71309A"/>
                </a:solidFill>
              </a:rPr>
              <a:t>Objetivo 2 | Diversificación productiva</a:t>
            </a:r>
          </a:p>
        </p:txBody>
      </p:sp>
      <p:pic>
        <p:nvPicPr>
          <p:cNvPr id="4" name="Picture 3" descr="diver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74519"/>
            <a:ext cx="7360920" cy="35478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75320" y="1993392"/>
            <a:ext cx="29992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71309A"/>
                </a:solidFill>
                <a:latin typeface="Aptos"/>
              </a:rPr>
              <a:t>De 2 a 3 rubros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2761488"/>
            <a:ext cx="2834640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43655"/>
                </a:solidFill>
                <a:latin typeface="Aptos"/>
              </a:rPr>
              <a:t>La categoría más frecuente pasó de 2 rubros sin crédito a 3 con crédito. Promedios: 3.36 y 3.65.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733288"/>
            <a:ext cx="10012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444B57"/>
                </a:solidFill>
                <a:latin typeface="Aptos"/>
              </a:rPr>
              <a:t>Fuente: CENAGRO 2011. Figura 5 del informe de investigación.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700">
                <a:solidFill>
                  <a:srgbClr val="71309A"/>
                </a:solidFill>
              </a:rPr>
              <a:t>Objetivo 2 | Uso del suelo</a:t>
            </a:r>
          </a:p>
        </p:txBody>
      </p:sp>
      <p:pic>
        <p:nvPicPr>
          <p:cNvPr id="4" name="Picture 3" descr="l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74519"/>
            <a:ext cx="7360920" cy="35478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75320" y="1993392"/>
            <a:ext cx="29992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71309A"/>
                </a:solidFill>
                <a:latin typeface="Aptos"/>
              </a:rPr>
              <a:t>22.9% en permanentes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2761488"/>
            <a:ext cx="2834640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43655"/>
                </a:solidFill>
                <a:latin typeface="Aptos"/>
              </a:rPr>
              <a:t>Frente al 13.6% sin crédito. El ratio pasto-cultivo bajó de 4.18 a 2.71.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733288"/>
            <a:ext cx="10012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444B57"/>
                </a:solidFill>
                <a:latin typeface="Aptos"/>
              </a:rPr>
              <a:t>Fuente: CENAGRO 2011. Figura 6 del informe de investigación.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700">
                <a:solidFill>
                  <a:srgbClr val="71309A"/>
                </a:solidFill>
              </a:rPr>
              <a:t>Conclusiones vinculadas a los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9875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43655"/>
                </a:solidFill>
                <a:latin typeface="Aptos"/>
              </a:rPr>
              <a:t>1. El crédito se relaciona con mayor intensidad de empleo, pero predomina la temporalidad.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43655"/>
                </a:solidFill>
                <a:latin typeface="Aptos"/>
              </a:rPr>
              <a:t>2. Las explotaciones financiadas muestran más cultivos permanentes y mayor diversificación.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43655"/>
                </a:solidFill>
                <a:latin typeface="Aptos"/>
              </a:rPr>
              <a:t>3. La principal barrera aparece antes de solicitar: 84.1% no llegó a tramitar crédito.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444B57"/>
                </a:solidFill>
                <a:latin typeface="Aptos"/>
              </a:rPr>
              <a:t>Hallazgos descriptivos del CENAGRO 2011; no establecen causalidad por sí solos.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7AE68068-A8DC-7A0D-F222-50EFB75C02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" b="9"/>
          <a:stretch/>
        </p:blipFill>
        <p:spPr>
          <a:xfrm>
            <a:off x="-2260" y="0"/>
            <a:ext cx="12194260" cy="685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7680" y="5084064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Muchas gracias</a:t>
            </a:r>
          </a:p>
        </p:txBody>
      </p:sp>
    </p:spTree>
    <p:extLst>
      <p:ext uri="{BB962C8B-B14F-4D97-AF65-F5344CB8AC3E}">
        <p14:creationId xmlns:p14="http://schemas.microsoft.com/office/powerpoint/2010/main" val="15113198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</TotalTime>
  <Words>497</Words>
  <Application>Microsoft Office PowerPoint</Application>
  <PresentationFormat>Panorámica</PresentationFormat>
  <Paragraphs>53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Aptos</vt:lpstr>
      <vt:lpstr>Arial</vt:lpstr>
      <vt:lpstr>Calibri</vt:lpstr>
      <vt:lpstr>Calibri cuerpo</vt:lpstr>
      <vt:lpstr>Calibri Light</vt:lpstr>
      <vt:lpstr>Courier New</vt:lpstr>
      <vt:lpstr>Montserrat SemiBold</vt:lpstr>
      <vt:lpstr>Tema de Office</vt:lpstr>
      <vt:lpstr>Impacto del financiamiento en el empleo y la diversificación productiva</vt:lpstr>
      <vt:lpstr>Problema y contexto de la investigación</vt:lpstr>
      <vt:lpstr>Objetivos de la investigación</vt:lpstr>
      <vt:lpstr>Metodología y procesamiento de datos</vt:lpstr>
      <vt:lpstr>Objetivo 3 | Acceso al financiamiento</vt:lpstr>
      <vt:lpstr>Objetivo 3 | Fuentes de financiamiento</vt:lpstr>
      <vt:lpstr>Objetivo 1 | Intensidad laboral</vt:lpstr>
      <vt:lpstr>Objetivo 1 | Estabilidad laboral</vt:lpstr>
      <vt:lpstr>Objetivo 2 | Diversificación productiva</vt:lpstr>
      <vt:lpstr>Objetivo 2 | Uso del suelo</vt:lpstr>
      <vt:lpstr>Conclusiones vinculadas a los objetivos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Marvin Antonio Gutiérrez Rodríguez</dc:creator>
  <cp:lastModifiedBy>Ricardo Oyarzo</cp:lastModifiedBy>
  <cp:revision>20</cp:revision>
  <dcterms:created xsi:type="dcterms:W3CDTF">2021-03-17T19:41:32Z</dcterms:created>
  <dcterms:modified xsi:type="dcterms:W3CDTF">2026-10-22T22:24:15Z</dcterms:modified>
</cp:coreProperties>
</file>